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0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8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tmp/deck_assets/title_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768" y="2011680"/>
            <a:ext cx="2889504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FMCW 레이더</a:t>
            </a:r>
            <a:endParaRPr lang="en-US" sz="38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신호처리 하드웨어 구현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3200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 XC7Z020 · 실측 IQ 데이터 2D FFT · Range-Doppler Map LCD 출력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mmWave FMCW 레이더의 IQ 데이터를 SD카드로 받아, PS가 DDR에 적재하고 PL이 2D FFT로 처리해 Range-Doppler Map을 LCD에 출력하는 시스템.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67512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7512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→ 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ARM이 IQ 프레임 로드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898648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42032" y="22860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06624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06624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→ PL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06624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DMA로 스트림 전송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6552" y="2898648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81144" y="22860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45736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45736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45736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Range→Doppler FFT·전력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55664" y="2898648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20256" y="22860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84848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84848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→ LCD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R-D Map 렌더링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  </a:t>
            </a: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ZedBoard (Zynq XC7Z020)</a:t>
            </a: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툴체인  </a:t>
            </a: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/ Vitis 2023.2</a:t>
            </a: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프레임  </a:t>
            </a: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chirp × 128 sample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신호와 거리 추출</a:t>
            </a:r>
            <a:endParaRPr lang="en-US" sz="2500" dirty="0"/>
          </a:p>
        </p:txBody>
      </p:sp>
      <p:pic>
        <p:nvPicPr>
          <p:cNvPr id="4" name="Image 0" descr="/tmp/deck_assets/chirp_f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406908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4173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29200" y="1545336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E8F86"/>
                </a:solidFill>
              </a:rPr>
              <a:t>송신 Chirp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7243A"/>
                </a:solidFill>
              </a:rPr>
              <a:t>x(t) = A·cos(2π f_c t + π S t²)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415A"/>
                </a:solidFill>
              </a:rPr>
              <a:t>믹서 → LPF 후 IF는 단일 톤,  f_IF = S·τ = 2S·d/c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415A"/>
                </a:solidFill>
              </a:rPr>
              <a:t>d = f_IF · c / (2S)     d_res = c / (2B)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154680"/>
          <a:ext cx="3840480" cy="1371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f_c  시작 주파수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대역폭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T_c  처프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B/T_c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MHz/µs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추출과 Range-Doppler 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연속된 처프 사이 IF 신호의 위상 변화로 속도를 얻는다. 처프 축(느린 시간)에 대한 두 번째 FFT가 Doppler FFT.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58368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위상 변화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ΔΦ = 4π v T_c / 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06624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7066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7066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λ·ω / (4π T_c)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10128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8368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속도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 = λ / (4 T_c)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13632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분해능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913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v_res = λ / (2 T_f)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325880"/>
            <a:ext cx="37947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749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 처리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120640" y="1965960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86400" y="1965960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852160" y="1965960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17920" y="1965960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0" y="1965960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120640" y="2258568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86400" y="2258568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852160" y="2258568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17920" y="2258568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583680" y="2258568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120640" y="2551176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486400" y="2551176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852160" y="2551176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217920" y="2551176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583680" y="2551176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120640" y="2843784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486400" y="2843784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852160" y="2843784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17920" y="2843784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583680" y="2843784"/>
            <a:ext cx="329184" cy="256032"/>
          </a:xfrm>
          <a:prstGeom prst="rect">
            <a:avLst/>
          </a:prstGeom>
          <a:solidFill>
            <a:srgbClr val="DCEAF6"/>
          </a:solidFill>
          <a:ln w="635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1206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행: 처프 · 열: 샘플(거리)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2240280"/>
            <a:ext cx="457200" cy="0"/>
          </a:xfrm>
          <a:prstGeom prst="line">
            <a:avLst/>
          </a:prstGeom>
          <a:noFill/>
          <a:ln w="25400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20756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FFT (행)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468880"/>
            <a:ext cx="0" cy="365760"/>
          </a:xfrm>
          <a:prstGeom prst="line">
            <a:avLst/>
          </a:prstGeom>
          <a:noFill/>
          <a:ln w="25400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17804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FFT (열)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7492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FFT 결과의 전력이 Range-Doppler Map. 피크의 (거리,속도) 위치가 표적.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데이터 흐름 (Block Design)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76072" y="218541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2478024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IQ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.bin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48840" y="18288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0B1E3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21992" y="195681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— ARM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21992" y="2249424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FatFs 로드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frame_buf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제어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1737360" cy="1143000"/>
          </a:xfrm>
          <a:prstGeom prst="roundRect">
            <a:avLst>
              <a:gd name="adj" fmla="val 5600"/>
            </a:avLst>
          </a:prstGeom>
          <a:solidFill>
            <a:srgbClr val="12294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16552" y="195681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6552" y="2249424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읽기(HP0)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MM2S 스트림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0B1E3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9672" y="195681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pl_top (PL)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2249424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 →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Framebuffer →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tft_pic 렌더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903720" y="361188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976872" y="373989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76872" y="4032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R-D Map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148840" y="361188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221992" y="37398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→ GPIO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21992" y="40325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sw[0] 모드 선택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737360" y="2468880"/>
            <a:ext cx="365760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977640" y="2377440"/>
            <a:ext cx="320040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080760" y="2377440"/>
            <a:ext cx="320040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360920" y="2971800"/>
            <a:ext cx="0" cy="621792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063240" y="3611880"/>
            <a:ext cx="0" cy="0"/>
          </a:xfrm>
          <a:prstGeom prst="line">
            <a:avLst/>
          </a:prstGeom>
          <a:noFill/>
          <a:ln w="25400">
            <a:solidFill>
              <a:srgbClr val="1693A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2212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2103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0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AXI-Stream {Q,I}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5236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rgb_lcd 24b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PS는 SD에서 프레임을 DDR에 적재하고 DMA만 제어한다. DMA의 MM2S(Memory-Map→Stream)가 DDR을 직접 읽어 AXI-Stream으로 PL에 흘려보낸다. </a:t>
            </a:r>
            <a:r>
              <a:rPr lang="en-US" sz="11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클럭: PL 처리 100 MHz / LCD 33 MHz.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Vivado Block Design</a:t>
            </a:r>
            <a:endParaRPr lang="en-US" sz="2500" dirty="0"/>
          </a:p>
        </p:txBody>
      </p:sp>
      <p:pic>
        <p:nvPicPr>
          <p:cNvPr id="4" name="Image 0" descr="/tmp/deck_assets/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166360" cy="2587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14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구성한 Block Design — 데이터는 SD → PS(DDR) → DMA → pl_top → LCD로 흐른다.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IP 블록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810512"/>
            <a:ext cx="100584" cy="100584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870448" y="1755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ZYNQ7 PS  </a:t>
            </a: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Cortex-A9 — SD 로드·DDR 적재·DMA 제어. GP0(제어)·HP0(DDR 접근).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2286000"/>
            <a:ext cx="100584" cy="100584"/>
          </a:xfrm>
          <a:prstGeom prst="ellipse">
            <a:avLst/>
          </a:prstGeom>
          <a:solidFill>
            <a:srgbClr val="0E8F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70448" y="2231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 </a:t>
            </a: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DDR을 읽어 AXI-Stream 생성(MM2S). PS가 S_AXI_LITE로 제어.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761488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70448" y="27066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GPIO  </a:t>
            </a: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스위치 입력 → PS가 읽어 synth / real 모드 선택.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236976"/>
            <a:ext cx="100584" cy="100584"/>
          </a:xfrm>
          <a:prstGeom prst="ellipse">
            <a:avLst/>
          </a:prstGeom>
          <a:solidFill>
            <a:srgbClr val="1693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870448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pl_top (RTL)  </a:t>
            </a: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FFT + LCD 렌더. s_axis 입력, rgb_lcd·sync 출력.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3712464"/>
            <a:ext cx="100584" cy="100584"/>
          </a:xfrm>
          <a:prstGeom prst="ellipse">
            <a:avLst/>
          </a:prstGeom>
          <a:solidFill>
            <a:srgbClr val="0E8F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70448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Interconnect ×2  </a:t>
            </a: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제어버스 GP0을 DMA·GPIO 레지스터로 분배 · DMA의 DDR 읽기(MM2S)를 HP0로 연결.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4187952"/>
            <a:ext cx="100584" cy="100584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870448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System Reset  </a:t>
            </a:r>
            <a:r>
              <a:rPr lang="en-US" sz="9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도메인 리셋 생성.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단 처리 — main.c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1399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마운트 · 모드 선택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f_mount 후 sw[0]로 synth / real 프레임 선택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157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적재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24505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f_read로 64KB IQ 프레임을 frame_buf에 로드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9169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flush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32095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DMA가 DDR을 읽기 전 캐시를 메모리에 반영(필수)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3675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전송 · 폴링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9684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MM2S 전송 시작 후 완료까지 대기, ~30 fps 반복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063240"/>
          </a:xfrm>
          <a:prstGeom prst="roundRect">
            <a:avLst>
              <a:gd name="adj" fmla="val 1493"/>
            </a:avLst>
          </a:prstGeom>
          <a:solidFill>
            <a:srgbClr val="0E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19472" y="1527048"/>
            <a:ext cx="3621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 sw = XGpio_DiscreteRead(&amp;Gpio, 1);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sw[0] : 0=synth  1=real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f_read(&amp;fil, frame_buf, FRAME_BYTES, &amp;br);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SD -&gt; DDR (64KB = 16384 x 32bit)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4D4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Xil_DCacheFlushRange(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(UINTPTR)frame_buf, FRAME_BYTES);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4D4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XAxiDma_SimpleTransfer(&amp;AxiDma,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(UINTPTR)frame_buf, FRAME_BYTES,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2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XAXIDMA_DMA_TO_DEVICE);  // MM2S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(XAxiDma_Busy(&amp;AxiDma,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XAXIDMA_DMA_TO_DEVICE));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단 로직 — 2D FFT 파이프라인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xfft_0 IP, 처프별 128-pt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783080"/>
            <a:ext cx="201168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624328" y="137160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E7F4F5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70048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Corner-turn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70048" y="1764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전치 (처프↔거리)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44568" y="1783080"/>
            <a:ext cx="201168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45736" y="137160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91456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FFT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91456" y="1764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IP 재사용, 거리별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65976" y="1783080"/>
            <a:ext cx="201168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867144" y="137160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E7F4F5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912864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12864" y="1764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I²+Q² 전력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4069080" cy="1920240"/>
          </a:xfrm>
          <a:prstGeom prst="roundRect">
            <a:avLst>
              <a:gd name="adj" fmla="val 2381"/>
            </a:avLst>
          </a:prstGeom>
          <a:solidFill>
            <a:srgbClr val="0E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7512" y="2670048"/>
            <a:ext cx="37581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corner_turn : 입력은 순서대로 저장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mem[wr_addr] &lt;= s_tdata;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전치 읽기 : range 바깥, chirp 안쪽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4D4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rd_addr = out_chirp*N + out_bin;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magnitude : 전력 (다음 단계에서 화면 색으로)</a:t>
            </a:r>
            <a:endParaRPr lang="en-US" sz="10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F2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= i_s*i_s + q_s*q_s;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560320"/>
            <a:ext cx="3886200" cy="192024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8348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로직 요약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83480" y="2980944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Range/Doppler FFT는 같은 xfft_0 래퍼를 두 번 인스턴스화. 사이에 corner-turn으로 축 전치.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corner-turn은 N×N BRAM에 [처프][거리]로 쓰고 [거리][처프] 순서로 읽어 전치.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magnitude는 sqrt 없이 I²+Q² (단조증가라 피크 보존), 32-bit 전력 출력.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경로 ① — Framebuffer (서로 다른 두 클럭)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2D FFT 결과(전력)는 100 MHz로 써지고, LCD는 33 MHz로 읽는다. 같은 메모리를 다른 속도로 동시에 건드리면 두 가지가 깨진다.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023360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값이 어중간하게 바뀌는 순간 읽음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2257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클럭이 변하는 비트를 잡으면 0도 1도 아닌 불안정한 값(metastability)이 나온다.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4023360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4632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프레임이 찢어져 보임 (tearing)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32257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프레임을 다 쓰기 전에 화면이 읽어가면 위/아래가 다른 프레임이 섞인다.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버퍼 2개로 번갈아 쓰기/읽기 (ping-pong) + 신호 동기화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1188720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9F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(쓰기)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7400" y="35661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DCEAF6"/>
          </a:solidFill>
          <a:ln w="12700">
            <a:solidFill>
              <a:srgbClr val="1693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057400" y="3566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buf0  (쓰는 중)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40233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BE8D2"/>
          </a:solidFill>
          <a:ln w="12700">
            <a:solidFill>
              <a:srgbClr val="D983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05740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buf1  (읽는 중)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3611880"/>
            <a:ext cx="1188720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9F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(읽기)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MHz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91640" y="3758184"/>
            <a:ext cx="320040" cy="0"/>
          </a:xfrm>
          <a:prstGeom prst="line">
            <a:avLst/>
          </a:prstGeom>
          <a:noFill/>
          <a:ln w="28575">
            <a:solidFill>
              <a:srgbClr val="1693A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29000" y="4215384"/>
            <a:ext cx="320040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21208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프레임 다 쓰면 두 버퍼의 역할을 맞바꾼다 → LCD는 항상 '완성된' 프레임만 본다.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0" y="4041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'지금 쓰는 버퍼' 신호는 클럭이 달라, 읽는 쪽에서 플립플롭 2개를 거쳐(2-FF) 안전하게 받는다.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경로 ② — 전력값을 화면 색으로 (tft_pic)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좌표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pix_x, pix_y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1792224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176272" y="137160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E7F4F5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221992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변환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21992" y="1737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2배 확대 후 range·doppler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85032" y="1792224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849624" y="137160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95344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 읽기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95344" y="1737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framebuffer rd_addr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58384" y="1792224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522976" y="137160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E7F4F5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68696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68696" y="1737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 위치 ≈ log2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31736" y="1792224"/>
            <a:ext cx="164592" cy="0"/>
          </a:xfrm>
          <a:prstGeom prst="line">
            <a:avLst/>
          </a:prstGeom>
          <a:noFill/>
          <a:ln w="28575">
            <a:solidFill>
              <a:srgbClr val="D9832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196328" y="137160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42048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42048" y="1737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24-bit RGB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514600"/>
            <a:ext cx="45720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2615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 → 색으로 압축하는 방법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" y="2926080"/>
            <a:ext cx="4251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전력값은 32비트라 범위가 너무 넓다(0 ~ 2³¹). 그대로 밝기에 매핑하면 큰 피크만 보이고 작은 건 다 묻힌다.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그래서 전력의 </a:t>
            </a:r>
            <a:r>
              <a:rPr lang="en-US" sz="108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 1비트 위치(MSB index)</a:t>
            </a:r>
            <a:r>
              <a:rPr lang="en-US" sz="10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레벨(0~31)로 쓴다. 이게 곧 ≈ log2(전력)이라 로그 스케일 압축 효과 — 작은 값도 큰 값도 한 화면에.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레벨을 heat 컬러맵에 매핑: 낮음 검정→파랑, 중간 청록→노랑, 높음 빨강. lcd_ctrl이 픽셀 타이밍에 맞춰 출력.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257800" y="25146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0E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22392" y="2624328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bin_range = (pix_x-X0) &gt;&gt; 1;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74D4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rd_addr = bin_range*N + bin_doppler;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0..31: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F2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if(power[k]) level=k; // ≈log2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39136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3913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57800" y="4133088"/>
            <a:ext cx="3657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623560" y="4133088"/>
            <a:ext cx="365760" cy="274320"/>
          </a:xfrm>
          <a:prstGeom prst="rect">
            <a:avLst/>
          </a:prstGeom>
          <a:solidFill>
            <a:srgbClr val="00004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989320" y="4133088"/>
            <a:ext cx="365760" cy="274320"/>
          </a:xfrm>
          <a:prstGeom prst="rect">
            <a:avLst/>
          </a:prstGeom>
          <a:solidFill>
            <a:srgbClr val="0010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355080" y="4133088"/>
            <a:ext cx="365760" cy="274320"/>
          </a:xfrm>
          <a:prstGeom prst="rect">
            <a:avLst/>
          </a:prstGeom>
          <a:solidFill>
            <a:srgbClr val="00A0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720840" y="4133088"/>
            <a:ext cx="365760" cy="274320"/>
          </a:xfrm>
          <a:prstGeom prst="rect">
            <a:avLst/>
          </a:prstGeom>
          <a:solidFill>
            <a:srgbClr val="00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086600" y="4133088"/>
            <a:ext cx="365760" cy="274320"/>
          </a:xfrm>
          <a:prstGeom prst="rect">
            <a:avLst/>
          </a:prstGeom>
          <a:solidFill>
            <a:srgbClr val="78FF7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452360" y="4133088"/>
            <a:ext cx="365760" cy="274320"/>
          </a:xfrm>
          <a:prstGeom prst="rect">
            <a:avLst/>
          </a:prstGeom>
          <a:solidFill>
            <a:srgbClr val="FFFF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818120" y="4133088"/>
            <a:ext cx="365760" cy="274320"/>
          </a:xfrm>
          <a:prstGeom prst="rect">
            <a:avLst/>
          </a:prstGeom>
          <a:solidFill>
            <a:srgbClr val="FF8C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183880" y="4133088"/>
            <a:ext cx="365760" cy="274320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난제와 해결</a:t>
            </a:r>
          </a:p>
        </p:txBody>
      </p:sp>
      <p:sp>
        <p:nvSpPr>
          <p:cNvPr id="4" name="Card1"/>
          <p:cNvSpPr/>
          <p:nvPr/>
        </p:nvSpPr>
        <p:spPr>
          <a:xfrm>
            <a:off x="502920" y="1240000"/>
            <a:ext cx="8183880" cy="234000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Card1Head"/>
          <p:cNvSpPr/>
          <p:nvPr/>
        </p:nvSpPr>
        <p:spPr>
          <a:xfrm>
            <a:off x="713232" y="1330000"/>
            <a:ext cx="7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FFT IP 스케일링 오버플로 — 빗살(스트라이프) artifact</a:t>
            </a:r>
          </a:p>
        </p:txBody>
      </p:sp>
      <p:pic>
        <p:nvPicPr>
          <p:cNvPr id="6" name="Before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" y="1760000"/>
            <a:ext cx="1609600" cy="1480000"/>
          </a:xfrm>
          <a:prstGeom prst="rect">
            <a:avLst/>
          </a:prstGeom>
          <a:ln w="19050">
            <a:solidFill>
              <a:srgbClr val="C0392B"/>
            </a:solidFill>
          </a:ln>
        </p:spPr>
      </p:pic>
      <p:sp>
        <p:nvSpPr>
          <p:cNvPr id="7" name="BeforeCap"/>
          <p:cNvSpPr/>
          <p:nvPr/>
        </p:nvSpPr>
        <p:spPr>
          <a:xfrm>
            <a:off x="555000" y="3285000"/>
            <a:ext cx="174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0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빗살 (÷16)</a:t>
            </a:r>
          </a:p>
        </p:txBody>
      </p:sp>
      <p:sp>
        <p:nvSpPr>
          <p:cNvPr id="8" name="CodeBox"/>
          <p:cNvSpPr/>
          <p:nvPr/>
        </p:nvSpPr>
        <p:spPr>
          <a:xfrm>
            <a:off x="2420000" y="1800000"/>
            <a:ext cx="4240000" cy="760000"/>
          </a:xfrm>
          <a:prstGeom prst="roundRect">
            <a:avLst>
              <a:gd name="adj" fmla="val 6000"/>
            </a:avLst>
          </a:prstGeom>
          <a:solidFill>
            <a:srgbClr val="0E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Text"/>
          <p:cNvSpPr/>
          <p:nvPr/>
        </p:nvSpPr>
        <p:spPr>
          <a:xfrm>
            <a:off x="2560000" y="1855000"/>
            <a:ext cx="398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range_fft.v  (두 FFT 패스 공통)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9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16'h00AB  → 빗살  (÷16)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4D4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16'h00D5  → 정상  (÷128 = ÷N)</a:t>
            </a:r>
          </a:p>
        </p:txBody>
      </p:sp>
      <p:sp>
        <p:nvSpPr>
          <p:cNvPr id="10" name="CauseText"/>
          <p:cNvSpPr/>
          <p:nvPr/>
        </p:nvSpPr>
        <p:spPr>
          <a:xfrm>
            <a:off x="2420000" y="2620000"/>
            <a:ext cx="424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128-pt FFT는 최대 ×128(=2^7) 성장. ÷16은 3비트가 넘쳐 오버플로(랩어라운드) → 빗살. ÷128로 성장과 상쇄돼 정상.</a:t>
            </a:r>
          </a:p>
        </p:txBody>
      </p:sp>
      <p:sp>
        <p:nvSpPr>
          <p:cNvPr id="11" name="StatText"/>
          <p:cNvSpPr/>
          <p:nvPr/>
        </p:nvSpPr>
        <p:spPr>
          <a:xfrm>
            <a:off x="2420000" y="3230000"/>
            <a:ext cx="42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피크/전체 에너지  </a:t>
            </a: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r>
              <a:rPr lang="en-US" sz="1150" b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</a:t>
            </a:r>
          </a:p>
        </p:txBody>
      </p:sp>
      <p:pic>
        <p:nvPicPr>
          <p:cNvPr id="12" name="After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760000"/>
            <a:ext cx="1680000" cy="1480000"/>
          </a:xfrm>
          <a:prstGeom prst="rect">
            <a:avLst/>
          </a:prstGeom>
          <a:ln w="19050">
            <a:solidFill>
              <a:srgbClr val="0E8F86"/>
            </a:solidFill>
          </a:ln>
        </p:spPr>
      </p:pic>
      <p:sp>
        <p:nvSpPr>
          <p:cNvPr id="13" name="AfterCap"/>
          <p:cNvSpPr/>
          <p:nvPr/>
        </p:nvSpPr>
        <p:spPr>
          <a:xfrm>
            <a:off x="6870000" y="3285000"/>
            <a:ext cx="174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r>
              <a:rPr lang="en-US" sz="100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정상 (÷128)</a:t>
            </a:r>
          </a:p>
        </p:txBody>
      </p:sp>
      <p:sp>
        <p:nvSpPr>
          <p:cNvPr id="14" name="Card2"/>
          <p:cNvSpPr/>
          <p:nvPr/>
        </p:nvSpPr>
        <p:spPr>
          <a:xfrm>
            <a:off x="502920" y="3680000"/>
            <a:ext cx="8183880" cy="114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Card2Head"/>
          <p:cNvSpPr/>
          <p:nvPr/>
        </p:nvSpPr>
        <p:spPr>
          <a:xfrm>
            <a:off x="713232" y="3770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SD 8.3 파일명 제약</a:t>
            </a:r>
          </a:p>
        </p:txBody>
      </p:sp>
      <p:sp>
        <p:nvSpPr>
          <p:cNvPr id="16" name="Card2Desc"/>
          <p:cNvSpPr/>
          <p:nvPr/>
        </p:nvSpPr>
        <p:spPr>
          <a:xfrm>
            <a:off x="713232" y="4080000"/>
            <a:ext cx="77724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FatFs가 긴 파일명(LFN) 비활성 상태라 이름이 8자를 넘으면 f_open이 실패한다(FR_INVALID_NAME). 예: "real_0000"(9자)은 열리지 않음. Vitis xilffs 라이브러리에서 use_lfn 옵션을 0→1로 바꿔 LFN </a:t>
            </a:r>
            <a:r>
              <a:rPr lang="en-US" sz="1150" dirty="0" err="1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150" dirty="0">
              <a:solidFill>
                <a:srgbClr val="6A77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검증용 합성 데이터(golden) — 왜·어떻게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69080" cy="3108960"/>
          </a:xfrm>
          <a:prstGeom prst="roundRect">
            <a:avLst>
              <a:gd name="adj" fmla="val 2059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만드는가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92224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데이터는 정답(거리·속도)을 모른다. 그래서 파이프라인이 맞는지 확인할 수 없다. 거리·속도를 내가 정한 가짜 타겟으로 IQ를 합성하면, 2D FFT 결과가 정해진 위치에 피크로 </a:t>
            </a:r>
            <a:r>
              <a:rPr lang="en-US" sz="113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떠야</a:t>
            </a:r>
            <a:r>
              <a:rPr lang="en-US" sz="113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3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만드는가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51129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타겟이 두 방향의 정현파를 갖게 한다: 빠른 시간(샘플)엔 거리 비트주파수, 느린 시간(처프)엔 속도 도플러 위상. 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417320"/>
          </a:xfrm>
          <a:prstGeom prst="roundRect">
            <a:avLst>
              <a:gd name="adj" fmla="val 3226"/>
            </a:avLst>
          </a:prstGeom>
          <a:solidFill>
            <a:srgbClr val="0E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19472" y="1481328"/>
            <a:ext cx="36210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7E9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타겟마다 (거리 d, 속도 v, 진폭 a)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f_if = 2*S*d/C            # 거리→비트주파수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74D4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  = 4*pi*v*TC*m/LAMBDA # 속도→도플러위상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x[m] += a*exp(1j*(</a:t>
            </a:r>
            <a:endParaRPr lang="en-US" sz="95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50" dirty="0">
                <a:solidFill>
                  <a:srgbClr val="F2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2*pi*f_if*(n/FS) + ph))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907792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46320" y="29077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bin = d / d_res      ·      doppler bin = v / v_res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419856"/>
          <a:ext cx="3931920" cy="10972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기대 bin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 m/s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27 · dop +5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−5.0 m/s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67 · dop −13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m/s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7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107 · dop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754880" y="4572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7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d_res = c/2B ≈ 3.75 cm · v_res = λ/(2N·T_c) ≈ 0.38 m/s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— RTL 시뮬레이션 &amp; 독립 레퍼런스</a:t>
            </a:r>
            <a:endParaRPr lang="en-US" sz="2500" dirty="0"/>
          </a:p>
        </p:txBody>
      </p:sp>
      <p:pic>
        <p:nvPicPr>
          <p:cNvPr id="4" name="Image 0" descr="/tmp/deck_assets/gold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8229600" cy="2697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  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시뮬 (synth.mem → fft_out.txt) — 스케일링 수정(0xAB→0xD5) 후 기대한 3 bin에 피크만 남고 빗살 사라짐.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4498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  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ColoRadar real_0984 </a:t>
            </a:r>
            <a:r>
              <a:rPr lang="en-US" sz="110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추출본을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따로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계산한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데이터 추출이 </a:t>
            </a:r>
            <a:r>
              <a:rPr lang="en-US" sz="110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정상인지</a:t>
            </a:r>
            <a:r>
              <a:rPr lang="en-US" sz="11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— LCD Range-Doppler Map</a:t>
            </a:r>
            <a:endParaRPr lang="en-US" sz="2500" dirty="0"/>
          </a:p>
        </p:txBody>
      </p:sp>
      <p:pic>
        <p:nvPicPr>
          <p:cNvPr id="4" name="Image 0" descr="/tmp/deck_assets/lcd_re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520440" cy="30998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6817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LCD 출력 (Libertron 모듈)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572000" y="1783080"/>
            <a:ext cx="4114800" cy="2606040"/>
          </a:xfrm>
          <a:prstGeom prst="roundRect">
            <a:avLst>
              <a:gd name="adj" fmla="val 2456"/>
            </a:avLst>
          </a:prstGeom>
          <a:solidFill>
            <a:srgbClr val="12294F"/>
          </a:solidFill>
          <a:ln w="12700">
            <a:solidFill>
              <a:srgbClr val="E2E9F2"/>
            </a:solidFill>
            <a:prstDash val="solid"/>
          </a:ln>
          <a:effectLst>
            <a:outerShdw blurRad="101600" dist="25400" dir="5400000" algn="bl" rotWithShape="0">
              <a:srgbClr val="0B1E3F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846320" y="1965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LCD에 R-D Map 정상 출력 확인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46320" y="2788920"/>
            <a:ext cx="137160" cy="137160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02352" y="2706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  </a:t>
            </a:r>
            <a:r>
              <a:rPr lang="en-US" sz="12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27 · doppler +5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46320" y="3291840"/>
            <a:ext cx="137160" cy="137160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102352" y="32095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  </a:t>
            </a:r>
            <a:r>
              <a:rPr lang="en-US" sz="12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67 · doppler −13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46320" y="3794760"/>
            <a:ext cx="137160" cy="137160"/>
          </a:xfrm>
          <a:prstGeom prst="ellipse">
            <a:avLst/>
          </a:prstGeom>
          <a:solidFill>
            <a:srgbClr val="D983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102352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  </a:t>
            </a:r>
            <a:r>
              <a:rPr lang="en-US" sz="12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107 · doppler 0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축은 가로 Doppler · 세로 Range. 거리·속도 수치는 LCD에 출력하지 않고 맵으로만 표시한다.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1819</Words>
  <Application>Microsoft Office PowerPoint</Application>
  <PresentationFormat>화면 슬라이드 쇼(16:9)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FMCW Radar HW</dc:title>
  <dc:subject>PptxGenJS Presentation</dc:subject>
  <dc:creator>Zorba</dc:creator>
  <cp:lastModifiedBy>원상윤</cp:lastModifiedBy>
  <cp:revision>2</cp:revision>
  <dcterms:created xsi:type="dcterms:W3CDTF">2026-06-17T23:15:06Z</dcterms:created>
  <dcterms:modified xsi:type="dcterms:W3CDTF">2026-06-17T23:49:00Z</dcterms:modified>
</cp:coreProperties>
</file>